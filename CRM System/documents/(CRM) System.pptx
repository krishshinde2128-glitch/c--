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45"/>
    <p:restoredTop sz="94631"/>
  </p:normalViewPr>
  <p:slideViewPr>
    <p:cSldViewPr snapToGrid="0">
      <p:cViewPr>
        <p:scale>
          <a:sx n="84" d="100"/>
          <a:sy n="84" d="100"/>
        </p:scale>
        <p:origin x="368" y="10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3/13/26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766634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3/13/26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0486479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3/13/26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97961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3/13/26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881124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3/13/26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374802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3/13/26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5660559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3/13/26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3048975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3/13/26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2598257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3/13/26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4169194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3/13/26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6994348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3/13/26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2186806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3/13/26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2809722"/>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2B430A-6971-7AD6-5672-FE734D3FA0F8}"/>
              </a:ext>
            </a:extLst>
          </p:cNvPr>
          <p:cNvSpPr>
            <a:spLocks noGrp="1"/>
          </p:cNvSpPr>
          <p:nvPr>
            <p:ph type="ctrTitle"/>
          </p:nvPr>
        </p:nvSpPr>
        <p:spPr>
          <a:xfrm>
            <a:off x="5604552" y="871758"/>
            <a:ext cx="5825448" cy="3871143"/>
          </a:xfrm>
        </p:spPr>
        <p:txBody>
          <a:bodyPr>
            <a:normAutofit/>
          </a:bodyPr>
          <a:lstStyle/>
          <a:p>
            <a:endParaRPr lang="en-US" dirty="0"/>
          </a:p>
        </p:txBody>
      </p:sp>
      <p:sp>
        <p:nvSpPr>
          <p:cNvPr id="3" name="Subtitle 2">
            <a:extLst>
              <a:ext uri="{FF2B5EF4-FFF2-40B4-BE49-F238E27FC236}">
                <a16:creationId xmlns:a16="http://schemas.microsoft.com/office/drawing/2014/main" id="{7FF682E7-F7FE-37B6-F023-7BABDE8B5DC6}"/>
              </a:ext>
            </a:extLst>
          </p:cNvPr>
          <p:cNvSpPr>
            <a:spLocks noGrp="1"/>
          </p:cNvSpPr>
          <p:nvPr>
            <p:ph type="subTitle" idx="1"/>
          </p:nvPr>
        </p:nvSpPr>
        <p:spPr>
          <a:xfrm>
            <a:off x="5619964" y="4785543"/>
            <a:ext cx="5322013" cy="1005657"/>
          </a:xfrm>
        </p:spPr>
        <p:txBody>
          <a:bodyPr>
            <a:normAutofit/>
          </a:bodyPr>
          <a:lstStyle/>
          <a:p>
            <a:r>
              <a:rPr lang="en-US" dirty="0"/>
              <a:t>By Krish Shinde</a:t>
            </a:r>
          </a:p>
          <a:p>
            <a:r>
              <a:rPr lang="en-US" dirty="0"/>
              <a:t>Roll number - </a:t>
            </a:r>
            <a:r>
              <a:rPr lang="en-IN" dirty="0"/>
              <a:t>150096725004</a:t>
            </a:r>
            <a:endParaRPr lang="en-US" dirty="0"/>
          </a:p>
        </p:txBody>
      </p:sp>
      <p:pic>
        <p:nvPicPr>
          <p:cNvPr id="4" name="Picture 3">
            <a:extLst>
              <a:ext uri="{FF2B5EF4-FFF2-40B4-BE49-F238E27FC236}">
                <a16:creationId xmlns:a16="http://schemas.microsoft.com/office/drawing/2014/main" id="{BBE5F408-9CE0-8B73-D8B3-C2DCE515F3DB}"/>
              </a:ext>
            </a:extLst>
          </p:cNvPr>
          <p:cNvPicPr>
            <a:picLocks noChangeAspect="1"/>
          </p:cNvPicPr>
          <p:nvPr/>
        </p:nvPicPr>
        <p:blipFill>
          <a:blip r:embed="rId2"/>
          <a:srcRect l="24390" r="22988" b="1"/>
          <a:stretch>
            <a:fillRect/>
          </a:stretch>
        </p:blipFill>
        <p:spPr>
          <a:xfrm>
            <a:off x="1" y="10"/>
            <a:ext cx="4876799" cy="6857989"/>
          </a:xfrm>
          <a:prstGeom prst="rect">
            <a:avLst/>
          </a:prstGeom>
        </p:spPr>
      </p:pic>
      <p:cxnSp>
        <p:nvCxnSpPr>
          <p:cNvPr id="11" name="Straight Connector 10">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23776" y="723900"/>
            <a:ext cx="5706224"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CF06E40-3ECB-4820-95B5-8A70B07D4B4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23776" y="6134100"/>
            <a:ext cx="566812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CDE54DD7-444F-629D-433A-76365C2E45B4}"/>
              </a:ext>
            </a:extLst>
          </p:cNvPr>
          <p:cNvPicPr>
            <a:picLocks noChangeAspect="1"/>
          </p:cNvPicPr>
          <p:nvPr/>
        </p:nvPicPr>
        <p:blipFill>
          <a:blip r:embed="rId3"/>
          <a:stretch>
            <a:fillRect/>
          </a:stretch>
        </p:blipFill>
        <p:spPr>
          <a:xfrm>
            <a:off x="-1" y="0"/>
            <a:ext cx="12192000" cy="6858000"/>
          </a:xfrm>
          <a:prstGeom prst="rect">
            <a:avLst/>
          </a:prstGeom>
        </p:spPr>
      </p:pic>
      <p:sp>
        <p:nvSpPr>
          <p:cNvPr id="7" name="TextBox 6">
            <a:extLst>
              <a:ext uri="{FF2B5EF4-FFF2-40B4-BE49-F238E27FC236}">
                <a16:creationId xmlns:a16="http://schemas.microsoft.com/office/drawing/2014/main" id="{67E64779-DA06-DFC0-2616-251266132AA2}"/>
              </a:ext>
            </a:extLst>
          </p:cNvPr>
          <p:cNvSpPr txBox="1"/>
          <p:nvPr/>
        </p:nvSpPr>
        <p:spPr>
          <a:xfrm>
            <a:off x="2989943" y="3278619"/>
            <a:ext cx="6212114" cy="646331"/>
          </a:xfrm>
          <a:prstGeom prst="rect">
            <a:avLst/>
          </a:prstGeom>
          <a:noFill/>
        </p:spPr>
        <p:txBody>
          <a:bodyPr wrap="square">
            <a:spAutoFit/>
          </a:bodyPr>
          <a:lstStyle/>
          <a:p>
            <a:pPr algn="ctr"/>
            <a:r>
              <a:rPr lang="en-US" dirty="0">
                <a:solidFill>
                  <a:schemeClr val="bg1"/>
                </a:solidFill>
              </a:rPr>
              <a:t>Customer Relationship Management</a:t>
            </a:r>
            <a:br>
              <a:rPr lang="en-US" dirty="0">
                <a:solidFill>
                  <a:schemeClr val="bg1"/>
                </a:solidFill>
              </a:rPr>
            </a:br>
            <a:r>
              <a:rPr lang="en-US" dirty="0">
                <a:solidFill>
                  <a:schemeClr val="bg1"/>
                </a:solidFill>
              </a:rPr>
              <a:t>(CRM) System</a:t>
            </a:r>
          </a:p>
        </p:txBody>
      </p:sp>
      <p:sp>
        <p:nvSpPr>
          <p:cNvPr id="8" name="TextBox 7">
            <a:extLst>
              <a:ext uri="{FF2B5EF4-FFF2-40B4-BE49-F238E27FC236}">
                <a16:creationId xmlns:a16="http://schemas.microsoft.com/office/drawing/2014/main" id="{6F6FAC05-0920-E90A-A713-EEE84FF8B9A4}"/>
              </a:ext>
            </a:extLst>
          </p:cNvPr>
          <p:cNvSpPr txBox="1"/>
          <p:nvPr/>
        </p:nvSpPr>
        <p:spPr>
          <a:xfrm>
            <a:off x="5036022" y="3924950"/>
            <a:ext cx="1909498" cy="923330"/>
          </a:xfrm>
          <a:prstGeom prst="rect">
            <a:avLst/>
          </a:prstGeom>
          <a:noFill/>
        </p:spPr>
        <p:txBody>
          <a:bodyPr wrap="none" rtlCol="0">
            <a:spAutoFit/>
          </a:bodyPr>
          <a:lstStyle/>
          <a:p>
            <a:pPr algn="ctr"/>
            <a:r>
              <a:rPr lang="en-US" dirty="0">
                <a:solidFill>
                  <a:schemeClr val="bg1"/>
                </a:solidFill>
              </a:rPr>
              <a:t>KRISH SHINDE</a:t>
            </a:r>
          </a:p>
          <a:p>
            <a:pPr algn="ctr"/>
            <a:r>
              <a:rPr lang="en-US" dirty="0">
                <a:solidFill>
                  <a:schemeClr val="bg1"/>
                </a:solidFill>
              </a:rPr>
              <a:t>150096725004</a:t>
            </a:r>
          </a:p>
          <a:p>
            <a:endParaRPr lang="en-US" dirty="0"/>
          </a:p>
        </p:txBody>
      </p:sp>
      <p:pic>
        <p:nvPicPr>
          <p:cNvPr id="1028" name="Picture 4">
            <a:extLst>
              <a:ext uri="{FF2B5EF4-FFF2-40B4-BE49-F238E27FC236}">
                <a16:creationId xmlns:a16="http://schemas.microsoft.com/office/drawing/2014/main" id="{B8C3EFBE-6210-063A-58E4-4322172355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49649" y="1503329"/>
            <a:ext cx="5092700"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17329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39B2F-A7CC-1DBD-E495-C0035E893256}"/>
              </a:ext>
            </a:extLst>
          </p:cNvPr>
          <p:cNvSpPr>
            <a:spLocks noGrp="1"/>
          </p:cNvSpPr>
          <p:nvPr>
            <p:ph type="title"/>
          </p:nvPr>
        </p:nvSpPr>
        <p:spPr>
          <a:xfrm>
            <a:off x="750364" y="1011052"/>
            <a:ext cx="10691265" cy="1307592"/>
          </a:xfrm>
        </p:spPr>
        <p:txBody>
          <a:bodyPr>
            <a:normAutofit/>
          </a:bodyPr>
          <a:lstStyle/>
          <a:p>
            <a:pPr algn="ctr"/>
            <a:r>
              <a:rPr lang="en-US" dirty="0"/>
              <a:t>Index </a:t>
            </a:r>
          </a:p>
        </p:txBody>
      </p:sp>
      <p:sp>
        <p:nvSpPr>
          <p:cNvPr id="4" name="Rectangle 1">
            <a:extLst>
              <a:ext uri="{FF2B5EF4-FFF2-40B4-BE49-F238E27FC236}">
                <a16:creationId xmlns:a16="http://schemas.microsoft.com/office/drawing/2014/main" id="{94D21D39-8C7D-2CDD-17FC-4425ECE77597}"/>
              </a:ext>
            </a:extLst>
          </p:cNvPr>
          <p:cNvSpPr>
            <a:spLocks noGrp="1" noChangeArrowheads="1"/>
          </p:cNvSpPr>
          <p:nvPr>
            <p:ph idx="1"/>
          </p:nvPr>
        </p:nvSpPr>
        <p:spPr bwMode="auto">
          <a:xfrm>
            <a:off x="3191623" y="2459504"/>
            <a:ext cx="5808745"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sz="3000" b="0" i="0" u="none" strike="noStrike" cap="none" normalizeH="0" baseline="0" dirty="0">
                <a:ln>
                  <a:noFill/>
                </a:ln>
                <a:solidFill>
                  <a:schemeClr val="tx1"/>
                </a:solidFill>
                <a:effectLst/>
              </a:rPr>
              <a:t>Problem Statement</a:t>
            </a:r>
          </a:p>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sz="3000" b="0" i="0" u="none" strike="noStrike" cap="none" normalizeH="0" baseline="0" dirty="0">
                <a:ln>
                  <a:noFill/>
                </a:ln>
                <a:solidFill>
                  <a:schemeClr val="tx1"/>
                </a:solidFill>
                <a:effectLst/>
              </a:rPr>
              <a:t>Our Solution</a:t>
            </a:r>
          </a:p>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sz="3000" b="0" i="0" u="none" strike="noStrike" cap="none" normalizeH="0" baseline="0" dirty="0">
                <a:ln>
                  <a:noFill/>
                </a:ln>
                <a:solidFill>
                  <a:schemeClr val="tx1"/>
                </a:solidFill>
                <a:effectLst/>
              </a:rPr>
              <a:t>Working (Method / Mind Map)</a:t>
            </a:r>
          </a:p>
          <a:p>
            <a:pPr marL="0" marR="0" lvl="0" indent="0" algn="ctr" defTabSz="914400" rtl="0" eaLnBrk="0" fontAlgn="base" latinLnBrk="0" hangingPunct="0">
              <a:lnSpc>
                <a:spcPct val="100000"/>
              </a:lnSpc>
              <a:spcBef>
                <a:spcPct val="0"/>
              </a:spcBef>
              <a:spcAft>
                <a:spcPct val="0"/>
              </a:spcAft>
              <a:buClrTx/>
              <a:buSzTx/>
              <a:buFontTx/>
              <a:buChar char="•"/>
              <a:tabLst/>
            </a:pPr>
            <a:r>
              <a:rPr kumimoji="0" lang="en-US" altLang="en-US" sz="3000" b="0" i="0" u="none" strike="noStrike" cap="none" normalizeH="0" baseline="0" dirty="0">
                <a:ln>
                  <a:noFill/>
                </a:ln>
                <a:solidFill>
                  <a:schemeClr val="tx1"/>
                </a:solidFill>
                <a:effectLst/>
              </a:rPr>
              <a:t>Conclusion</a:t>
            </a:r>
          </a:p>
        </p:txBody>
      </p:sp>
      <p:pic>
        <p:nvPicPr>
          <p:cNvPr id="5" name="Picture 4">
            <a:extLst>
              <a:ext uri="{FF2B5EF4-FFF2-40B4-BE49-F238E27FC236}">
                <a16:creationId xmlns:a16="http://schemas.microsoft.com/office/drawing/2014/main" id="{FDCCC24E-561B-41E5-A7ED-FE1F94BBAD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1474" y="6164234"/>
            <a:ext cx="693766" cy="6937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8281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5CDAC85-4834-E266-46C3-A52A457FA6D4}"/>
              </a:ext>
            </a:extLst>
          </p:cNvPr>
          <p:cNvSpPr>
            <a:spLocks noGrp="1"/>
          </p:cNvSpPr>
          <p:nvPr>
            <p:ph idx="1"/>
          </p:nvPr>
        </p:nvSpPr>
        <p:spPr/>
        <p:txBody>
          <a:bodyPr/>
          <a:lstStyle/>
          <a:p>
            <a:pPr marL="0" indent="0">
              <a:buNone/>
            </a:pPr>
            <a:r>
              <a:rPr lang="en-IN" dirty="0"/>
              <a:t>Businesses interact with many customers every day. Managing customer details and communication manually can be difficult and unorganized. Important information can be lost, and it becomes hard to track customer interactions.</a:t>
            </a:r>
          </a:p>
          <a:p>
            <a:pPr marL="0" indent="0">
              <a:buNone/>
            </a:pPr>
            <a:r>
              <a:rPr lang="en-IN" dirty="0"/>
              <a:t>Therefore, a simple system is needed to </a:t>
            </a:r>
            <a:r>
              <a:rPr lang="en-IN" b="1" dirty="0"/>
              <a:t>store customer details and keep track of interactions in an organized way</a:t>
            </a:r>
            <a:r>
              <a:rPr lang="en-IN" dirty="0"/>
              <a:t>.</a:t>
            </a:r>
          </a:p>
          <a:p>
            <a:pPr marL="0" indent="0">
              <a:buNone/>
            </a:pPr>
            <a:r>
              <a:rPr lang="en-IN" dirty="0"/>
              <a:t>The goal of this project is to develop a </a:t>
            </a:r>
            <a:r>
              <a:rPr lang="en-IN" b="1" dirty="0"/>
              <a:t>CRM system using C++</a:t>
            </a:r>
            <a:r>
              <a:rPr lang="en-IN" dirty="0"/>
              <a:t> that allows users to add customer information, record interactions, and view stored data easily.</a:t>
            </a:r>
          </a:p>
          <a:p>
            <a:pPr marL="0" indent="0">
              <a:buNone/>
            </a:pPr>
            <a:endParaRPr lang="en-US" dirty="0"/>
          </a:p>
        </p:txBody>
      </p:sp>
      <p:sp>
        <p:nvSpPr>
          <p:cNvPr id="4" name="Rectangle 1">
            <a:extLst>
              <a:ext uri="{FF2B5EF4-FFF2-40B4-BE49-F238E27FC236}">
                <a16:creationId xmlns:a16="http://schemas.microsoft.com/office/drawing/2014/main" id="{845E4010-01C5-3A40-E875-653FF2A8B6D5}"/>
              </a:ext>
            </a:extLst>
          </p:cNvPr>
          <p:cNvSpPr>
            <a:spLocks noGrp="1" noChangeArrowheads="1"/>
          </p:cNvSpPr>
          <p:nvPr>
            <p:ph type="title"/>
          </p:nvPr>
        </p:nvSpPr>
        <p:spPr bwMode="auto">
          <a:xfrm>
            <a:off x="3838932" y="896112"/>
            <a:ext cx="4414670"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mn-lt"/>
              </a:rPr>
              <a:t>Problem Statement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 name="Picture 4">
            <a:extLst>
              <a:ext uri="{FF2B5EF4-FFF2-40B4-BE49-F238E27FC236}">
                <a16:creationId xmlns:a16="http://schemas.microsoft.com/office/drawing/2014/main" id="{0C596829-61DF-149B-B5B6-6CA325C8C4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1474" y="6164234"/>
            <a:ext cx="693766" cy="6937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78383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27F1B-A1FF-2AA1-1B3E-B614FF18F8C6}"/>
              </a:ext>
            </a:extLst>
          </p:cNvPr>
          <p:cNvSpPr>
            <a:spLocks noGrp="1"/>
          </p:cNvSpPr>
          <p:nvPr>
            <p:ph type="title"/>
          </p:nvPr>
        </p:nvSpPr>
        <p:spPr/>
        <p:txBody>
          <a:bodyPr/>
          <a:lstStyle/>
          <a:p>
            <a:pPr algn="ctr"/>
            <a:r>
              <a:rPr lang="en-IN" dirty="0"/>
              <a:t>Our Solution</a:t>
            </a:r>
            <a:endParaRPr lang="en-US" dirty="0"/>
          </a:p>
        </p:txBody>
      </p:sp>
      <p:sp>
        <p:nvSpPr>
          <p:cNvPr id="3" name="Content Placeholder 2">
            <a:extLst>
              <a:ext uri="{FF2B5EF4-FFF2-40B4-BE49-F238E27FC236}">
                <a16:creationId xmlns:a16="http://schemas.microsoft.com/office/drawing/2014/main" id="{9F9DD622-70F2-CEA9-534F-3CEE9643DF12}"/>
              </a:ext>
            </a:extLst>
          </p:cNvPr>
          <p:cNvSpPr>
            <a:spLocks noGrp="1"/>
          </p:cNvSpPr>
          <p:nvPr>
            <p:ph idx="1"/>
          </p:nvPr>
        </p:nvSpPr>
        <p:spPr/>
        <p:txBody>
          <a:bodyPr/>
          <a:lstStyle/>
          <a:p>
            <a:pPr marL="0" indent="0">
              <a:buNone/>
            </a:pPr>
            <a:r>
              <a:rPr lang="en-IN" dirty="0"/>
              <a:t>To solve this problem, we developed a </a:t>
            </a:r>
            <a:r>
              <a:rPr lang="en-IN" b="1" dirty="0"/>
              <a:t>simple CRM system using C++</a:t>
            </a:r>
            <a:r>
              <a:rPr lang="en-IN" dirty="0"/>
              <a:t>.</a:t>
            </a:r>
          </a:p>
          <a:p>
            <a:pPr marL="0" indent="0">
              <a:buNone/>
            </a:pPr>
            <a:r>
              <a:rPr lang="en-IN" dirty="0"/>
              <a:t>The system allows users to:</a:t>
            </a:r>
          </a:p>
          <a:p>
            <a:r>
              <a:rPr lang="en-IN" dirty="0"/>
              <a:t>Add customer details</a:t>
            </a:r>
          </a:p>
          <a:p>
            <a:r>
              <a:rPr lang="en-IN" dirty="0"/>
              <a:t>View customer records</a:t>
            </a:r>
          </a:p>
          <a:p>
            <a:r>
              <a:rPr lang="en-IN" dirty="0"/>
              <a:t>Record interaction notes</a:t>
            </a:r>
          </a:p>
          <a:p>
            <a:r>
              <a:rPr lang="en-IN" dirty="0"/>
              <a:t>View interaction history</a:t>
            </a:r>
          </a:p>
          <a:p>
            <a:pPr marL="0" indent="0">
              <a:buNone/>
            </a:pPr>
            <a:r>
              <a:rPr lang="en-IN" dirty="0"/>
              <a:t>The program uses </a:t>
            </a:r>
            <a:r>
              <a:rPr lang="en-IN" b="1" dirty="0"/>
              <a:t>classes and file handling</a:t>
            </a:r>
            <a:r>
              <a:rPr lang="en-IN" dirty="0"/>
              <a:t> to store data.</a:t>
            </a:r>
            <a:br>
              <a:rPr lang="en-IN" dirty="0"/>
            </a:br>
            <a:r>
              <a:rPr lang="en-IN" dirty="0"/>
              <a:t>It also uses a </a:t>
            </a:r>
            <a:r>
              <a:rPr lang="en-IN" b="1" dirty="0"/>
              <a:t>menu-driven interface</a:t>
            </a:r>
            <a:r>
              <a:rPr lang="en-IN" dirty="0"/>
              <a:t> so users can easily choose different options.</a:t>
            </a:r>
          </a:p>
          <a:p>
            <a:endParaRPr lang="en-US" dirty="0"/>
          </a:p>
        </p:txBody>
      </p:sp>
      <p:pic>
        <p:nvPicPr>
          <p:cNvPr id="4" name="Picture 3">
            <a:extLst>
              <a:ext uri="{FF2B5EF4-FFF2-40B4-BE49-F238E27FC236}">
                <a16:creationId xmlns:a16="http://schemas.microsoft.com/office/drawing/2014/main" id="{3D199349-5DB2-490C-EB8C-5C096D33E5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1474" y="6164234"/>
            <a:ext cx="693766" cy="6937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33731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B93F5CF-7A3B-CA4D-B5A6-487EB0F96C4B}"/>
              </a:ext>
            </a:extLst>
          </p:cNvPr>
          <p:cNvSpPr>
            <a:spLocks noGrp="1"/>
          </p:cNvSpPr>
          <p:nvPr>
            <p:ph type="title"/>
          </p:nvPr>
        </p:nvSpPr>
        <p:spPr>
          <a:xfrm>
            <a:off x="804672" y="914400"/>
            <a:ext cx="3799763" cy="1473200"/>
          </a:xfrm>
        </p:spPr>
        <p:txBody>
          <a:bodyPr>
            <a:normAutofit fontScale="90000"/>
          </a:bodyPr>
          <a:lstStyle/>
          <a:p>
            <a:r>
              <a:rPr lang="en-IN" sz="3600" dirty="0"/>
              <a:t>Working (Method / Mind Map)</a:t>
            </a:r>
            <a:endParaRPr lang="en-US" sz="3600" dirty="0"/>
          </a:p>
        </p:txBody>
      </p:sp>
      <p:cxnSp>
        <p:nvCxnSpPr>
          <p:cNvPr id="15" name="Straight Connector 14">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AutoShape 8" descr=", AI generated">
            <a:extLst>
              <a:ext uri="{FF2B5EF4-FFF2-40B4-BE49-F238E27FC236}">
                <a16:creationId xmlns:a16="http://schemas.microsoft.com/office/drawing/2014/main" id="{737A148E-2F75-A983-CAFF-1F153ECB59CA}"/>
              </a:ext>
            </a:extLst>
          </p:cNvPr>
          <p:cNvSpPr>
            <a:spLocks noGrp="1" noChangeAspect="1" noChangeArrowheads="1"/>
          </p:cNvSpPr>
          <p:nvPr>
            <p:ph idx="1"/>
          </p:nvPr>
        </p:nvSpPr>
        <p:spPr bwMode="auto">
          <a:xfrm>
            <a:off x="704088" y="2387600"/>
            <a:ext cx="3799763" cy="3767328"/>
          </a:xfrm>
          <a:prstGeom prst="rect">
            <a:avLst/>
          </a:prstGeom>
          <a:extLst>
            <a:ext uri="{909E8E84-426E-40DD-AFC4-6F175D3DCCD1}">
              <a14:hiddenFill xmlns:a14="http://schemas.microsoft.com/office/drawing/2010/main">
                <a:solidFill>
                  <a:srgbClr val="FFFFFF"/>
                </a:solidFill>
              </a14:hiddenFill>
            </a:ext>
          </a:extLst>
        </p:spPr>
        <p:txBody>
          <a:bodyPr vert="horz" lIns="91440" tIns="45720" rIns="91440" bIns="45720" numCol="1" anchorCtr="0" compatLnSpc="1">
            <a:prstTxWarp prst="textNoShape">
              <a:avLst/>
            </a:prstTxWarp>
            <a:normAutofit fontScale="92500" lnSpcReduction="20000"/>
          </a:bodyPr>
          <a:lstStyle/>
          <a:p>
            <a:pPr marL="0" indent="0">
              <a:buNone/>
            </a:pPr>
            <a:r>
              <a:rPr lang="en-IN" b="1" dirty="0"/>
              <a:t>Operations:</a:t>
            </a:r>
            <a:endParaRPr lang="en-IN" dirty="0"/>
          </a:p>
          <a:p>
            <a:r>
              <a:rPr lang="en-IN" dirty="0"/>
              <a:t>Add Customer → Save customer details in file</a:t>
            </a:r>
          </a:p>
          <a:p>
            <a:r>
              <a:rPr lang="en-IN" dirty="0"/>
              <a:t>View Customers → Read and display customer data</a:t>
            </a:r>
          </a:p>
          <a:p>
            <a:r>
              <a:rPr lang="en-IN" dirty="0"/>
              <a:t>Add Interaction → Save interaction note</a:t>
            </a:r>
          </a:p>
          <a:p>
            <a:r>
              <a:rPr lang="en-IN" dirty="0"/>
              <a:t>View Interactions → Display interaction history</a:t>
            </a:r>
          </a:p>
          <a:p>
            <a:pPr marL="0" indent="0">
              <a:buNone/>
            </a:pPr>
            <a:r>
              <a:rPr lang="en-IN" dirty="0"/>
              <a:t>All data is stored using </a:t>
            </a:r>
            <a:r>
              <a:rPr lang="en-IN" b="1" dirty="0"/>
              <a:t>file handling in C++</a:t>
            </a:r>
            <a:r>
              <a:rPr lang="en-IN" dirty="0"/>
              <a:t>.</a:t>
            </a:r>
          </a:p>
          <a:p>
            <a:endParaRPr lang="en-US" dirty="0"/>
          </a:p>
        </p:txBody>
      </p:sp>
      <p:pic>
        <p:nvPicPr>
          <p:cNvPr id="8" name="Picture 7">
            <a:extLst>
              <a:ext uri="{FF2B5EF4-FFF2-40B4-BE49-F238E27FC236}">
                <a16:creationId xmlns:a16="http://schemas.microsoft.com/office/drawing/2014/main" id="{00181139-B21E-3E12-1F9E-E354A1C918C1}"/>
              </a:ext>
            </a:extLst>
          </p:cNvPr>
          <p:cNvPicPr>
            <a:picLocks noChangeAspect="1"/>
          </p:cNvPicPr>
          <p:nvPr/>
        </p:nvPicPr>
        <p:blipFill>
          <a:blip r:embed="rId2"/>
          <a:srcRect l="17254" r="17432" b="1"/>
          <a:stretch>
            <a:fillRect/>
          </a:stretch>
        </p:blipFill>
        <p:spPr>
          <a:xfrm>
            <a:off x="4981575" y="735286"/>
            <a:ext cx="6495042" cy="5419642"/>
          </a:xfrm>
          <a:prstGeom prst="rect">
            <a:avLst/>
          </a:prstGeom>
        </p:spPr>
      </p:pic>
      <p:pic>
        <p:nvPicPr>
          <p:cNvPr id="5" name="Picture 4">
            <a:extLst>
              <a:ext uri="{FF2B5EF4-FFF2-40B4-BE49-F238E27FC236}">
                <a16:creationId xmlns:a16="http://schemas.microsoft.com/office/drawing/2014/main" id="{A4684909-7EAA-3CF4-8B73-A232F69567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51474" y="6164234"/>
            <a:ext cx="693766" cy="6937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68286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B6206-0960-9785-D776-1490D0550C4C}"/>
              </a:ext>
            </a:extLst>
          </p:cNvPr>
          <p:cNvSpPr>
            <a:spLocks noGrp="1"/>
          </p:cNvSpPr>
          <p:nvPr>
            <p:ph type="title"/>
          </p:nvPr>
        </p:nvSpPr>
        <p:spPr/>
        <p:txBody>
          <a:bodyPr/>
          <a:lstStyle/>
          <a:p>
            <a:pPr algn="ctr"/>
            <a:r>
              <a:rPr lang="en-IN" dirty="0"/>
              <a:t>Conclusion</a:t>
            </a:r>
            <a:endParaRPr lang="en-US" dirty="0"/>
          </a:p>
        </p:txBody>
      </p:sp>
      <p:sp>
        <p:nvSpPr>
          <p:cNvPr id="3" name="Content Placeholder 2">
            <a:extLst>
              <a:ext uri="{FF2B5EF4-FFF2-40B4-BE49-F238E27FC236}">
                <a16:creationId xmlns:a16="http://schemas.microsoft.com/office/drawing/2014/main" id="{84BCD796-EAE3-4574-0345-B8176042B686}"/>
              </a:ext>
            </a:extLst>
          </p:cNvPr>
          <p:cNvSpPr>
            <a:spLocks noGrp="1"/>
          </p:cNvSpPr>
          <p:nvPr>
            <p:ph idx="1"/>
          </p:nvPr>
        </p:nvSpPr>
        <p:spPr/>
        <p:txBody>
          <a:bodyPr/>
          <a:lstStyle/>
          <a:p>
            <a:pPr marL="0" indent="0">
              <a:buNone/>
            </a:pPr>
            <a:r>
              <a:rPr lang="en-IN" dirty="0"/>
              <a:t>The CRM system was successfully developed using </a:t>
            </a:r>
            <a:r>
              <a:rPr lang="en-IN" b="1" dirty="0"/>
              <a:t>C++</a:t>
            </a:r>
            <a:r>
              <a:rPr lang="en-IN" dirty="0"/>
              <a:t>.</a:t>
            </a:r>
          </a:p>
          <a:p>
            <a:pPr marL="0" indent="0">
              <a:buNone/>
            </a:pPr>
            <a:r>
              <a:rPr lang="en-IN" dirty="0"/>
              <a:t>It allows users to:</a:t>
            </a:r>
          </a:p>
          <a:p>
            <a:r>
              <a:rPr lang="en-IN" dirty="0"/>
              <a:t>Store customer details</a:t>
            </a:r>
          </a:p>
          <a:p>
            <a:r>
              <a:rPr lang="en-IN" dirty="0"/>
              <a:t>Record customer interactions</a:t>
            </a:r>
          </a:p>
          <a:p>
            <a:r>
              <a:rPr lang="en-IN" dirty="0"/>
              <a:t>View stored information easily</a:t>
            </a:r>
          </a:p>
          <a:p>
            <a:pPr marL="0" indent="0">
              <a:buNone/>
            </a:pPr>
            <a:r>
              <a:rPr lang="en-IN" dirty="0"/>
              <a:t>The system uses </a:t>
            </a:r>
            <a:r>
              <a:rPr lang="en-IN" b="1" dirty="0"/>
              <a:t>classes, file handling, and a menu-driven program</a:t>
            </a:r>
            <a:r>
              <a:rPr lang="en-IN" dirty="0"/>
              <a:t> to manage data.</a:t>
            </a:r>
          </a:p>
          <a:p>
            <a:pPr marL="0" indent="0">
              <a:buNone/>
            </a:pPr>
            <a:r>
              <a:rPr lang="en-IN" dirty="0"/>
              <a:t>This project shows how basic programming concepts can be used to build a </a:t>
            </a:r>
            <a:r>
              <a:rPr lang="en-IN" b="1" dirty="0"/>
              <a:t>simple and useful customer management system</a:t>
            </a:r>
            <a:r>
              <a:rPr lang="en-IN" dirty="0"/>
              <a:t>.</a:t>
            </a:r>
          </a:p>
          <a:p>
            <a:endParaRPr lang="en-US" dirty="0"/>
          </a:p>
        </p:txBody>
      </p:sp>
      <p:pic>
        <p:nvPicPr>
          <p:cNvPr id="5" name="Picture 4">
            <a:extLst>
              <a:ext uri="{FF2B5EF4-FFF2-40B4-BE49-F238E27FC236}">
                <a16:creationId xmlns:a16="http://schemas.microsoft.com/office/drawing/2014/main" id="{CDC82338-744D-8958-90F6-515E17CDB2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1474" y="6164234"/>
            <a:ext cx="693766" cy="6937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04399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479833C7-FDE4-4657-B0B1-32BE833C24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ABE7C0B-A2D9-4202-A524-532DA2E2D5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4E19629C-62B3-C1CC-1EE3-789238EAA5BE}"/>
              </a:ext>
            </a:extLst>
          </p:cNvPr>
          <p:cNvPicPr>
            <a:picLocks noGrp="1" noChangeAspect="1"/>
          </p:cNvPicPr>
          <p:nvPr>
            <p:ph idx="1"/>
          </p:nvPr>
        </p:nvPicPr>
        <p:blipFill>
          <a:blip r:embed="rId2"/>
          <a:srcRect b="443"/>
          <a:stretch>
            <a:fillRect/>
          </a:stretch>
        </p:blipFill>
        <p:spPr>
          <a:xfrm>
            <a:off x="20" y="10"/>
            <a:ext cx="12191979" cy="6857989"/>
          </a:xfrm>
          <a:prstGeom prst="rect">
            <a:avLst/>
          </a:prstGeom>
        </p:spPr>
      </p:pic>
    </p:spTree>
    <p:extLst>
      <p:ext uri="{BB962C8B-B14F-4D97-AF65-F5344CB8AC3E}">
        <p14:creationId xmlns:p14="http://schemas.microsoft.com/office/powerpoint/2010/main" val="3263410467"/>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otalTime>30</TotalTime>
  <Words>288</Words>
  <Application>Microsoft Macintosh PowerPoint</Application>
  <PresentationFormat>Widescreen</PresentationFormat>
  <Paragraphs>37</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Calisto MT</vt:lpstr>
      <vt:lpstr>Univers Condensed</vt:lpstr>
      <vt:lpstr>ChronicleVTI</vt:lpstr>
      <vt:lpstr>PowerPoint Presentation</vt:lpstr>
      <vt:lpstr>Index </vt:lpstr>
      <vt:lpstr>Problem Statement </vt:lpstr>
      <vt:lpstr>Our Solution</vt:lpstr>
      <vt:lpstr>Working (Method / Mind Map)</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Krish Shinde</dc:creator>
  <cp:lastModifiedBy>Krish Shinde</cp:lastModifiedBy>
  <cp:revision>3</cp:revision>
  <dcterms:created xsi:type="dcterms:W3CDTF">2026-03-09T15:38:41Z</dcterms:created>
  <dcterms:modified xsi:type="dcterms:W3CDTF">2026-03-13T07:21:20Z</dcterms:modified>
</cp:coreProperties>
</file>